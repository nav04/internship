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72" r:id="rId11"/>
    <p:sldId id="273" r:id="rId12"/>
    <p:sldId id="274" r:id="rId13"/>
    <p:sldId id="275" r:id="rId14"/>
    <p:sldId id="276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 anchor="ctr"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 anchor="ctr"/>
        <a:lstStyle/>
        <a:p>
          <a:pPr>
            <a:buNone/>
          </a:pPr>
          <a:r>
            <a:rPr lang="en-IN" b="1" dirty="0"/>
            <a:t>Production Implementation: Full support for ISO8583 and ISO20022). Integration of PostgreSQL for dynamic data extraction, record persistence, and automated logging.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 anchor="ctr"/>
        <a:lstStyle/>
        <a:p>
          <a:pPr>
            <a:buNone/>
          </a:pPr>
          <a:r>
            <a:rPr lang="en-US" b="1" dirty="0"/>
            <a:t>Advanced Configuration &amp; Hardening: Implementing configuration-driven mapping logic and enhancing system security with banking-grade authentication (Auth/TLS).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738E926-3757-4A2C-BA1D-9C80F282FFD5}">
      <dgm:prSet/>
      <dgm:spPr/>
      <dgm:t>
        <a:bodyPr anchor="ctr"/>
        <a:lstStyle/>
        <a:p>
          <a:pPr>
            <a:buNone/>
          </a:pPr>
          <a:r>
            <a:rPr lang="en-US" b="1" dirty="0"/>
            <a:t>Designing the ESB architecture and canonical data model for multi-format data transformation.</a:t>
          </a:r>
          <a:endParaRPr lang="en-US" dirty="0"/>
        </a:p>
      </dgm:t>
    </dgm:pt>
    <dgm:pt modelId="{B1283D38-9568-4A12-87C2-E16B23353ABA}" type="parTrans" cxnId="{46AF3FDD-2CFB-44F1-9179-65BB2AF47E93}">
      <dgm:prSet/>
      <dgm:spPr/>
      <dgm:t>
        <a:bodyPr/>
        <a:lstStyle/>
        <a:p>
          <a:endParaRPr lang="en-IN"/>
        </a:p>
      </dgm:t>
    </dgm:pt>
    <dgm:pt modelId="{2B114B73-BFF9-49C6-B0A4-7500335FBEF9}" type="sibTrans" cxnId="{46AF3FDD-2CFB-44F1-9179-65BB2AF47E93}">
      <dgm:prSet/>
      <dgm:spPr/>
      <dgm:t>
        <a:bodyPr/>
        <a:lstStyle/>
        <a:p>
          <a:endParaRPr lang="en-IN"/>
        </a:p>
      </dgm:t>
    </dgm:pt>
    <dgm:pt modelId="{0C9EA32C-FD9B-4E88-8171-A61A1A6BD659}">
      <dgm:prSet/>
      <dgm:spPr/>
      <dgm:t>
        <a:bodyPr anchor="ctr"/>
        <a:lstStyle/>
        <a:p>
          <a:pPr>
            <a:buNone/>
          </a:pPr>
          <a:r>
            <a:rPr lang="en-US" b="1" dirty="0"/>
            <a:t>System Robustness &amp; Performance: Optimizing concurrency handling and conducting latency benchmarks for high-volume financial message processing.</a:t>
          </a:r>
          <a:endParaRPr lang="en-IN" b="1" dirty="0"/>
        </a:p>
      </dgm:t>
    </dgm:pt>
    <dgm:pt modelId="{4D691046-F980-45FE-9A7D-9E20BB8A109C}" type="parTrans" cxnId="{A3836DE0-7586-414A-9294-214B70AB6371}">
      <dgm:prSet/>
      <dgm:spPr/>
      <dgm:t>
        <a:bodyPr/>
        <a:lstStyle/>
        <a:p>
          <a:endParaRPr lang="en-IN"/>
        </a:p>
      </dgm:t>
    </dgm:pt>
    <dgm:pt modelId="{B4E4B999-1F90-40BA-9622-F5207C1B55E4}" type="sibTrans" cxnId="{A3836DE0-7586-414A-9294-214B70AB6371}">
      <dgm:prSet/>
      <dgm:spPr/>
      <dgm:t>
        <a:bodyPr/>
        <a:lstStyle/>
        <a:p>
          <a:endParaRPr lang="en-IN"/>
        </a:p>
      </dgm:t>
    </dgm:pt>
    <dgm:pt modelId="{200010D4-2739-4D37-958C-96CA5F10464B}">
      <dgm:prSet/>
      <dgm:spPr/>
      <dgm:t>
        <a:bodyPr anchor="ctr"/>
        <a:lstStyle/>
        <a:p>
          <a:pPr>
            <a:buNone/>
          </a:pPr>
          <a:r>
            <a:rPr lang="en-US" b="1" dirty="0"/>
            <a:t>Project Conclusion: Presenting the complete, production-ready ESB system with comprehensive documentation, technical learnings, and future scalability scope.</a:t>
          </a:r>
          <a:endParaRPr lang="en-IN" b="1" dirty="0"/>
        </a:p>
      </dgm:t>
    </dgm:pt>
    <dgm:pt modelId="{8EC8E0B0-6790-49EE-8CE0-2B376331EBC0}" type="parTrans" cxnId="{61CA6C63-E549-4F0E-BF99-882A70C3559D}">
      <dgm:prSet/>
      <dgm:spPr/>
      <dgm:t>
        <a:bodyPr/>
        <a:lstStyle/>
        <a:p>
          <a:endParaRPr lang="en-IN"/>
        </a:p>
      </dgm:t>
    </dgm:pt>
    <dgm:pt modelId="{3C0A52A4-CD69-4837-ACB3-3AF9D4E747A8}" type="sibTrans" cxnId="{61CA6C63-E549-4F0E-BF99-882A70C3559D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7B045D2E-6105-4E69-A08C-2A284F474B3B}" type="presOf" srcId="{200010D4-2739-4D37-958C-96CA5F10464B}" destId="{928B615F-0F8D-4140-A638-0FBB8F5BF1E9}" srcOrd="1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61CA6C63-E549-4F0E-BF99-882A70C3559D}" srcId="{65C051F6-A849-4495-A964-CD4C650B9C06}" destId="{200010D4-2739-4D37-958C-96CA5F10464B}" srcOrd="0" destOrd="0" parTransId="{8EC8E0B0-6790-49EE-8CE0-2B376331EBC0}" sibTransId="{3C0A52A4-CD69-4837-ACB3-3AF9D4E747A8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0447F784-9A38-4391-A5F0-3DF31C2CAB5D}" type="presOf" srcId="{0C9EA32C-FD9B-4E88-8171-A61A1A6BD659}" destId="{FC0F1314-3294-4A8C-8DCE-EB53E236164C}" srcOrd="0" destOrd="0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F9300FC8-1AFC-4768-B6AF-2A237654320B}" type="presOf" srcId="{A738E926-3757-4A2C-BA1D-9C80F282FFD5}" destId="{A134CDD1-D85F-44EF-8BEE-9F99A855C1E6}" srcOrd="0" destOrd="1" presId="urn:microsoft.com/office/officeart/2011/layout/InterconnectedBlockProcess"/>
    <dgm:cxn modelId="{972615CC-845B-479A-AADE-4F87F7D2F2C5}" type="presOf" srcId="{200010D4-2739-4D37-958C-96CA5F10464B}" destId="{8CAE5A4D-0C7B-48A6-917B-0B8433D0574B}" srcOrd="0" destOrd="0" presId="urn:microsoft.com/office/officeart/2011/layout/InterconnectedBlockProcess"/>
    <dgm:cxn modelId="{BB1F62CF-CA9A-4376-B2E6-351EDC772E59}" type="presOf" srcId="{A738E926-3757-4A2C-BA1D-9C80F282FFD5}" destId="{1C91D7E3-8940-4A33-9182-677DD5415901}" srcOrd="1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3BD2FFD7-500D-4B7E-8202-836CC384FE45}" type="presOf" srcId="{0C9EA32C-FD9B-4E88-8171-A61A1A6BD659}" destId="{98225A61-A0EC-450A-BED8-EF2E47E8FD18}" srcOrd="1" destOrd="0" presId="urn:microsoft.com/office/officeart/2011/layout/InterconnectedBlockProcess"/>
    <dgm:cxn modelId="{46AF3FDD-2CFB-44F1-9179-65BB2AF47E93}" srcId="{988D96B0-D16E-4763-B393-84178CF4FF50}" destId="{A738E926-3757-4A2C-BA1D-9C80F282FFD5}" srcOrd="1" destOrd="0" parTransId="{B1283D38-9568-4A12-87C2-E16B23353ABA}" sibTransId="{2B114B73-BFF9-49C6-B0A4-7500335FBEF9}"/>
    <dgm:cxn modelId="{A3836DE0-7586-414A-9294-214B70AB6371}" srcId="{5E92505A-51E0-4F78-B3C5-704ACF8710DE}" destId="{0C9EA32C-FD9B-4E88-8171-A61A1A6BD659}" srcOrd="0" destOrd="0" parTransId="{4D691046-F980-45FE-9A7D-9E20BB8A109C}" sibTransId="{B4E4B999-1F90-40BA-9622-F5207C1B55E4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Project Conclusion: Presenting the complete, production-ready ESB system with comprehensive documentation, technical learnings, and future scalability scope.</a:t>
          </a:r>
          <a:endParaRPr lang="en-IN" sz="1100" b="1" kern="1200" dirty="0"/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System Robustness &amp; Performance: Optimizing concurrency handling and conducting latency benchmarks for high-volume financial message processing.</a:t>
          </a:r>
          <a:endParaRPr lang="en-IN" sz="1100" b="1" kern="1200" dirty="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Advanced Configuration &amp; Hardening: Implementing configuration-driven mapping logic and enhancing system security with banking-grade authentication (Auth/TLS).</a:t>
          </a:r>
          <a:endParaRPr lang="en-US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Production Implementation: Full support for ISO8583 and ISO20022). Integration of PostgreSQL for dynamic data extraction, record persistence, and automated logging.</a:t>
          </a:r>
          <a:endParaRPr lang="en-US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Designing the ESB architecture and canonical data model for multi-format data transformation.</a:t>
          </a:r>
          <a:endParaRPr lang="en-US" sz="1100" kern="1200" dirty="0"/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03/02/2026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2022CAI%20Roll%20Number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Priyanki Dutta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 COMPUTER SCIENCE AND ENGINEERING{AI&amp;ML}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Dr.Zafar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Ali Khan N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Mr.Anandan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/>
              <a:t>Design and Development of an Enterprise Service Bus (ESB) for Data Transformation and Integration</a:t>
            </a:r>
            <a:br>
              <a:rPr lang="en-US" sz="2400" dirty="0"/>
            </a:br>
            <a:r>
              <a:rPr lang="en-US" sz="2400" dirty="0"/>
              <a:t>FINTECH BASED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009270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NAVANEETH A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8CAI01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766" y="1486465"/>
            <a:ext cx="10515600" cy="4193176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technology-driven organization focusing on digital transformation, enterprise integration, and scalable software solutions.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Focus Areas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Integration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System Design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API-based Architectures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&amp; Middleware Solutions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3C430-857E-21EC-9E93-693A5927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BFD3-49D6-F290-1915-EED2C585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3B0BD-1108-C874-3FCC-39948D6FB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6921"/>
            <a:ext cx="10515600" cy="4193176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Service Bus (ESB) solutions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 &amp; Integration Platforms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Engines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Backend Systems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customers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&amp; Fintech domains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Integration-heavy systems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9EE34-2E54-E9B6-AFD0-8195BEB0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753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2FC7E-03B8-6899-9E6F-975C35982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C0B6-A6FB-A31A-F3D2-5BB4582F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180A7-2AA4-21A8-E4D6-B5B443606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139"/>
            <a:ext cx="10515600" cy="419317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real-world enterprise problems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system-level architecture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on clean, scalable design principles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CF9BF-AB42-A645-082C-A6E5DE3AB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665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Service Bus (ESB) &amp; System Integration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(Flask)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JSON,XML,CSV,DB,ISO8583,ISO20020 Transformation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Canonical Data Model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YAML-based Configuration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Adapter-based Architecture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A3245AA-59A1-944C-537D-FAF00D3A64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2095" y="1289953"/>
            <a:ext cx="937166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Backend &amp; Integration Team.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Focus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Middleware development and high-level system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Mr. Manikandan Kannan.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Mentor Role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Provides implementation guidance, logic reviews, and design discussions.</a:t>
            </a: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BEC7ED-FE9E-AD24-9628-CE19763B1A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2632"/>
            <a:ext cx="970893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Complexity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Learning to design enterprise-level middleware rather than simple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Handling canonical data consistently across multiple transformation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Designing "rename-safe" transformation logic to handle user-driven field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Decoupling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Maintaining a strict separation between the UI components and the backend logic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4D272A-F99C-2EE1-47A8-D61D43C3D2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0743"/>
            <a:ext cx="9251731" cy="3570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 Flexibility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Build a flexible ESB capable of handling multiple data formats including JSON and XML.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Internal Consistency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Design and implement a Canonical Data Model for standardized field mapping.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Readiness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Ensure the architecture is robust enough to support future ISO financial standards.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Reliability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Ensure robustness against dynamic field renaming in the integration pipeline.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9D9447F-BA2D-EB2F-0E01-73C3C50FE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0378"/>
            <a:ext cx="795895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 20022 Migration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Studying the global transition from legacy financial messaging to the universal ISO 20022 standard.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Service Bus Patterns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Researching "Message Broker" and "Canonical Data Model" patterns to handle heterogeneous fintech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Performance in Middleware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Analyzing the role of relational databases like PostgreSQL in maintaining audit trails and state management in ESBs.</a:t>
            </a: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25005BE-D29F-EE6A-2CF1-DDC4245E48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187" y="1228397"/>
            <a:ext cx="947244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modular ESB utilizing Inbound/Outbound adapters with a central Canonical Data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 20022 Implementation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Currently supports 6 distinct message families (CAAA, CAAM, CATP, CAAD, CAIN, ACMT).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Dynamic data retrieval from PostgreSQL tables for transformation.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Automated logging of all transformation requests and results for audit purposes.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Logic that ensures "rename-safe" transformations and field mapping.</a:t>
            </a:r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332934E-DB26-851C-778C-411BA541CC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6765" y="1685112"/>
            <a:ext cx="964586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Gap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Financial institutions struggle to bridge modern JSON APIs with legacy ISO standards and database-driven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Silos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Information locked in specific formats or database tables is difficult to integrate across different banking channels.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high-performance ESB that centralizes transformation logic while providing integrated logging and database management.</a:t>
            </a: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1897CE5-4E6D-8F93-C185-E3880AB44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730812"/>
            <a:ext cx="748599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Python (Flask) with Waitress for production serving.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PostgreSQL for record management and capability metadata.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Parsing Libraries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Specialized libraries for ISO8583 conversion and XML schema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Postman for API testing and GitHub for version control.</a:t>
            </a:r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EB41BFF-91F4-3925-FA66-8C023CD930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46522"/>
            <a:ext cx="1037108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Banking-Grade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Direct implementation of critical ISO financial standards.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Logging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Native PostgreSQL support for comprehensive audit trails and error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Ability to extract data directly from DB tables and transform it into any supported target format (JSON, XML, ISO).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Adapter-based design allows for adding more ISO families without modifying the core engine</a:t>
            </a: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838560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 action="ppaction://hlinkfile"/>
              </a:rPr>
              <a:t>https://github.com/NAV04/internship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7046</TotalTime>
  <Words>947</Words>
  <Application>Microsoft Office PowerPoint</Application>
  <PresentationFormat>Widescreen</PresentationFormat>
  <Paragraphs>165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NAVANEETH A D</cp:lastModifiedBy>
  <cp:revision>720</cp:revision>
  <dcterms:created xsi:type="dcterms:W3CDTF">2022-10-14T07:18:17Z</dcterms:created>
  <dcterms:modified xsi:type="dcterms:W3CDTF">2026-02-03T00:41:11Z</dcterms:modified>
</cp:coreProperties>
</file>